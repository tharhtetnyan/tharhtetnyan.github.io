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8" r:id="rId2"/>
    <p:sldMasterId id="2147483656" r:id="rId3"/>
  </p:sldMasterIdLst>
  <p:notesMasterIdLst>
    <p:notesMasterId r:id="rId10"/>
  </p:notesMasterIdLst>
  <p:sldIdLst>
    <p:sldId id="278" r:id="rId4"/>
    <p:sldId id="282" r:id="rId5"/>
    <p:sldId id="284" r:id="rId6"/>
    <p:sldId id="285" r:id="rId7"/>
    <p:sldId id="279" r:id="rId8"/>
    <p:sldId id="283" r:id="rId9"/>
  </p:sldIdLst>
  <p:sldSz cx="18288000" cy="10287000"/>
  <p:notesSz cx="6858000" cy="9144000"/>
  <p:embeddedFontLst>
    <p:embeddedFont>
      <p:font typeface="맑은 고딕" panose="020B0503020000020004" pitchFamily="34" charset="-12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68DE"/>
    <a:srgbClr val="E2E5EC"/>
    <a:srgbClr val="99B5F5"/>
    <a:srgbClr val="374257"/>
    <a:srgbClr val="1145AB"/>
    <a:srgbClr val="3668DF"/>
    <a:srgbClr val="FAFAFC"/>
    <a:srgbClr val="3669DF"/>
    <a:srgbClr val="007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8727" autoAdjust="0"/>
  </p:normalViewPr>
  <p:slideViewPr>
    <p:cSldViewPr>
      <p:cViewPr>
        <p:scale>
          <a:sx n="66" d="100"/>
          <a:sy n="66" d="100"/>
        </p:scale>
        <p:origin x="1140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1.fntdata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3E3CE-3B3B-41FE-9D88-675067B2213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8AABB-39FD-40AB-8BC0-B1D2BF0BF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83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902C167-D5C4-4260-9902-1E2AD39BD8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393950" y="2743200"/>
            <a:ext cx="2108200" cy="41910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F29D801A-23C7-431B-967E-E28FD98CB91D}"/>
              </a:ext>
            </a:extLst>
          </p:cNvPr>
          <p:cNvSpPr txBox="1"/>
          <p:nvPr userDrawn="1"/>
        </p:nvSpPr>
        <p:spPr>
          <a:xfrm>
            <a:off x="2381250" y="6057900"/>
            <a:ext cx="973455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6000" spc="-200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Innovative Medical Device Lab</a:t>
            </a:r>
            <a:endParaRPr lang="en-US" sz="6000" b="0" i="0" u="none" strike="noStrike" spc="-500" dirty="0">
              <a:solidFill>
                <a:srgbClr val="3742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36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79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54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그림 7" descr="스크린샷, 텍스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15D0B1-FBE0-41D7-A06B-A567F4C23E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75" y="8403625"/>
            <a:ext cx="1753200" cy="17532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A52351D-D4D0-4CCA-BD65-DB8A07A27B4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60129" y="2142671"/>
            <a:ext cx="10922000" cy="81788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53262F4A-9DFE-4946-B30C-B747D9E52CB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181225" y="-444500"/>
            <a:ext cx="9271000" cy="6946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D54ACC-EC17-4586-B285-DC8A856802DC}"/>
              </a:ext>
            </a:extLst>
          </p:cNvPr>
          <p:cNvSpPr txBox="1"/>
          <p:nvPr userDrawn="1"/>
        </p:nvSpPr>
        <p:spPr>
          <a:xfrm>
            <a:off x="16175" y="9987290"/>
            <a:ext cx="2362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Arial" panose="020B0604020202020204" pitchFamily="34" charset="0"/>
                <a:cs typeface="Arial" panose="020B0604020202020204" pitchFamily="34" charset="0"/>
              </a:rPr>
              <a:t>www.schimedlab.com</a:t>
            </a:r>
            <a:endParaRPr lang="ko-KR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9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0ECC5ED7-E457-4E52-929D-C7E12BEBBF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00" y="-88900"/>
            <a:ext cx="190500" cy="10426700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B92B4855-AA23-4D09-A1F1-6CF93A85FA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00" y="1790700"/>
            <a:ext cx="190500" cy="17526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A155DD4-EC2A-40A2-B60C-31A90C4F696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9789" y="0"/>
            <a:ext cx="2073275" cy="10287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DADFCBE6-0C5F-472E-9AC3-F66226E6ACD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508000" y="1282700"/>
            <a:ext cx="1692000" cy="21832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FC0CB5D8-DC9A-4BA8-B330-75FA511D61D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25000"/>
          </a:blip>
          <a:stretch>
            <a:fillRect/>
          </a:stretch>
        </p:blipFill>
        <p:spPr>
          <a:xfrm rot="-5400000">
            <a:off x="-3063875" y="5080000"/>
            <a:ext cx="10350500" cy="177800"/>
          </a:xfrm>
          <a:prstGeom prst="rect">
            <a:avLst/>
          </a:prstGeom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62A7B716-A76F-4610-90A4-ECADC6757CD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992600" y="0"/>
            <a:ext cx="1295400" cy="1295400"/>
          </a:xfrm>
          <a:prstGeom prst="rect">
            <a:avLst/>
          </a:prstGeom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16B8A6AD-9A45-4BAC-B353-E6985EC3A9C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2515686" y="1282700"/>
            <a:ext cx="14040000" cy="26342"/>
          </a:xfrm>
          <a:prstGeom prst="rect">
            <a:avLst/>
          </a:prstGeom>
        </p:spPr>
      </p:pic>
      <p:sp>
        <p:nvSpPr>
          <p:cNvPr id="14" name="TextBox 70">
            <a:extLst>
              <a:ext uri="{FF2B5EF4-FFF2-40B4-BE49-F238E27FC236}">
                <a16:creationId xmlns:a16="http://schemas.microsoft.com/office/drawing/2014/main" id="{B9E7257D-6D10-46F2-9DB6-9398BA33324E}"/>
              </a:ext>
            </a:extLst>
          </p:cNvPr>
          <p:cNvSpPr txBox="1"/>
          <p:nvPr userDrawn="1"/>
        </p:nvSpPr>
        <p:spPr>
          <a:xfrm>
            <a:off x="508000" y="685800"/>
            <a:ext cx="13208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82170"/>
              </a:lnSpc>
            </a:pPr>
            <a:r>
              <a:rPr lang="en-US" altLang="ko-KR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Innovative Medical </a:t>
            </a:r>
          </a:p>
          <a:p>
            <a:pPr lvl="0">
              <a:lnSpc>
                <a:spcPct val="82170"/>
              </a:lnSpc>
            </a:pPr>
            <a:r>
              <a:rPr lang="en-US" altLang="ko-KR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Lab</a:t>
            </a:r>
          </a:p>
        </p:txBody>
      </p:sp>
      <p:pic>
        <p:nvPicPr>
          <p:cNvPr id="15" name="그림 14" descr="스크린샷, 텍스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9A218C-5234-4023-A490-52025690BE2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75" y="8403625"/>
            <a:ext cx="1753200" cy="1753200"/>
          </a:xfrm>
          <a:prstGeom prst="rect">
            <a:avLst/>
          </a:prstGeom>
        </p:spPr>
      </p:pic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0CC81BF6-24CD-4659-8B3C-11C43FB4ACDD}"/>
              </a:ext>
            </a:extLst>
          </p:cNvPr>
          <p:cNvSpPr txBox="1">
            <a:spLocks/>
          </p:cNvSpPr>
          <p:nvPr userDrawn="1"/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F40D64-805F-40D0-8376-1C0399C9A599}"/>
              </a:ext>
            </a:extLst>
          </p:cNvPr>
          <p:cNvSpPr txBox="1"/>
          <p:nvPr userDrawn="1"/>
        </p:nvSpPr>
        <p:spPr>
          <a:xfrm>
            <a:off x="16175" y="10020300"/>
            <a:ext cx="2362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Arial" panose="020B0604020202020204" pitchFamily="34" charset="0"/>
                <a:cs typeface="Arial" panose="020B0604020202020204" pitchFamily="34" charset="0"/>
              </a:rPr>
              <a:t>www.schimedlab.com</a:t>
            </a:r>
            <a:endParaRPr lang="ko-KR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64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924B14-E86F-4A7A-BA58-1D686572C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그림 7" descr="스크린샷, 텍스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040FF4-3404-4E71-9B22-5452F28577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398" y="2211300"/>
            <a:ext cx="4075200" cy="40752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767EF490-4436-4E5B-8D80-DA9DCC43EE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60129" y="3321220"/>
            <a:ext cx="10922000" cy="81788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23396312-E92F-4CDF-BAAE-06F6920369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295400" y="-431800"/>
            <a:ext cx="9271000" cy="6946900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D8F6227E-E023-4D47-984B-110BBC682A01}"/>
              </a:ext>
            </a:extLst>
          </p:cNvPr>
          <p:cNvSpPr txBox="1"/>
          <p:nvPr userDrawn="1"/>
        </p:nvSpPr>
        <p:spPr>
          <a:xfrm>
            <a:off x="1200148" y="6272103"/>
            <a:ext cx="15887700" cy="236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82170"/>
              </a:lnSpc>
            </a:pPr>
            <a:r>
              <a:rPr lang="en-US" sz="7200" b="1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  <a:p>
            <a:pPr lvl="0" algn="ctr">
              <a:lnSpc>
                <a:spcPct val="82170"/>
              </a:lnSpc>
            </a:pPr>
            <a:r>
              <a:rPr lang="en-US" sz="7200" b="1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listening</a:t>
            </a:r>
            <a:endParaRPr lang="en-US" sz="7200" b="1" i="0" u="none" strike="noStrike" dirty="0">
              <a:solidFill>
                <a:srgbClr val="1040C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870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F30EFC-2CF5-4D64-8C28-33BEBC61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B01FAFCD-87ED-44BE-9D89-46D2048BFF90}"/>
              </a:ext>
            </a:extLst>
          </p:cNvPr>
          <p:cNvSpPr txBox="1"/>
          <p:nvPr/>
        </p:nvSpPr>
        <p:spPr>
          <a:xfrm>
            <a:off x="2381250" y="4610100"/>
            <a:ext cx="158877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altLang="ko-KR" sz="8800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ko-KR" altLang="en-US" sz="8800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sz="8800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8800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주차 랩미팅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67916C20-A506-459A-9F26-F9CE1D74BB06}"/>
              </a:ext>
            </a:extLst>
          </p:cNvPr>
          <p:cNvSpPr txBox="1"/>
          <p:nvPr/>
        </p:nvSpPr>
        <p:spPr>
          <a:xfrm>
            <a:off x="2546350" y="2857500"/>
            <a:ext cx="1752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82170"/>
              </a:lnSpc>
            </a:pPr>
            <a:r>
              <a:rPr lang="en-US" sz="1900" b="1" i="0" u="none" strike="noStrike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2026. 1</a:t>
            </a:r>
            <a:r>
              <a:rPr lang="en-US" sz="1900" b="1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900" b="1" i="0" u="none" strike="noStrike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A7D7E-F8FB-CB56-5B6E-2513A91C64C5}"/>
              </a:ext>
            </a:extLst>
          </p:cNvPr>
          <p:cNvSpPr txBox="1"/>
          <p:nvPr/>
        </p:nvSpPr>
        <p:spPr>
          <a:xfrm>
            <a:off x="30480" y="918210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+mn-ea"/>
              </a:rPr>
              <a:t>Thar Htet Nyan IMEDLAB</a:t>
            </a:r>
            <a:endParaRPr 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2855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6CF0F-07F0-F6C7-8BE2-C48E99C4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41E34A-E547-954D-BD10-1D8844FADB91}"/>
              </a:ext>
            </a:extLst>
          </p:cNvPr>
          <p:cNvSpPr txBox="1"/>
          <p:nvPr/>
        </p:nvSpPr>
        <p:spPr>
          <a:xfrm>
            <a:off x="2667000" y="639112"/>
            <a:ext cx="1284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600" spc="-200" dirty="0">
                <a:solidFill>
                  <a:srgbClr val="1145AB"/>
                </a:solidFill>
                <a:latin typeface="Arial" panose="020B0604020202020204" pitchFamily="34" charset="0"/>
                <a:ea typeface="S-Core Dream 5 Medium"/>
                <a:cs typeface="Arial" panose="020B0604020202020204" pitchFamily="34" charset="0"/>
              </a:rPr>
              <a:t>Glymphatic </a:t>
            </a:r>
            <a:r>
              <a:rPr lang="ko-KR" altLang="en-US" sz="3600" spc="-200" dirty="0">
                <a:solidFill>
                  <a:srgbClr val="1145AB"/>
                </a:solidFill>
                <a:latin typeface="Arial" panose="020B0604020202020204" pitchFamily="34" charset="0"/>
                <a:ea typeface="S-Core Dream 5 Medium"/>
                <a:cs typeface="Arial" panose="020B0604020202020204" pitchFamily="34" charset="0"/>
              </a:rPr>
              <a:t>논문 출판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A9CE57-2C17-B55F-DB0E-1E08968D79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80" y="1638300"/>
            <a:ext cx="6174160" cy="8201106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CC9410-7888-4E06-ABF0-196ED7DADE8C}"/>
              </a:ext>
            </a:extLst>
          </p:cNvPr>
          <p:cNvSpPr txBox="1"/>
          <p:nvPr/>
        </p:nvSpPr>
        <p:spPr>
          <a:xfrm>
            <a:off x="9174480" y="8083034"/>
            <a:ext cx="3631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highlight>
                  <a:srgbClr val="FFFF00"/>
                </a:highlight>
              </a:rPr>
              <a:t>Impact Factor: 2.7 (2025) , Q3</a:t>
            </a:r>
            <a:endParaRPr lang="en-US" b="1" dirty="0"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145042-F14E-6610-9145-2DAD68887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019300"/>
            <a:ext cx="8173591" cy="6030167"/>
          </a:xfrm>
          <a:prstGeom prst="rect">
            <a:avLst/>
          </a:prstGeom>
        </p:spPr>
      </p:pic>
      <p:pic>
        <p:nvPicPr>
          <p:cNvPr id="7" name="Picture 6" descr="Home | Neurological Sciences | Springer Nature Link">
            <a:extLst>
              <a:ext uri="{FF2B5EF4-FFF2-40B4-BE49-F238E27FC236}">
                <a16:creationId xmlns:a16="http://schemas.microsoft.com/office/drawing/2014/main" id="{3BE78E6D-7C2E-3C0B-2A34-3B0AE8537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2920" y="5349240"/>
            <a:ext cx="1400120" cy="185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3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B515-1736-259C-B166-FDC24525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6A70B92-F9A7-9F80-8F43-3E9006FBE8B0}"/>
              </a:ext>
            </a:extLst>
          </p:cNvPr>
          <p:cNvSpPr txBox="1"/>
          <p:nvPr/>
        </p:nvSpPr>
        <p:spPr>
          <a:xfrm>
            <a:off x="2667000" y="639112"/>
            <a:ext cx="1284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3600" spc="-200" dirty="0">
                <a:solidFill>
                  <a:srgbClr val="1145AB"/>
                </a:solidFill>
                <a:latin typeface="Arial" panose="020B0604020202020204" pitchFamily="34" charset="0"/>
                <a:ea typeface="S-Core Dream 5 Medium"/>
                <a:cs typeface="Arial" panose="020B0604020202020204" pitchFamily="34" charset="0"/>
              </a:rPr>
              <a:t>복지부 포스터 발표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511570-6DC8-C199-A244-5D470BBEC3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7"/>
          <a:stretch>
            <a:fillRect/>
          </a:stretch>
        </p:blipFill>
        <p:spPr>
          <a:xfrm>
            <a:off x="7832351" y="1866899"/>
            <a:ext cx="4816849" cy="72707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D915B1-1527-A927-D79A-36475CE3F4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7" t="19037" r="17211" b="6063"/>
          <a:stretch>
            <a:fillRect/>
          </a:stretch>
        </p:blipFill>
        <p:spPr>
          <a:xfrm>
            <a:off x="2651760" y="1859279"/>
            <a:ext cx="5105400" cy="72707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78E208-A86C-FFC3-4D65-01F3181A9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9" t="17740" r="26665" b="10594"/>
          <a:stretch>
            <a:fillRect/>
          </a:stretch>
        </p:blipFill>
        <p:spPr>
          <a:xfrm>
            <a:off x="12739630" y="1851659"/>
            <a:ext cx="4252969" cy="731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8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2F44-2844-A137-091F-66988560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9186BDF-28E1-4827-6E15-F6C5F47F8371}"/>
              </a:ext>
            </a:extLst>
          </p:cNvPr>
          <p:cNvSpPr txBox="1"/>
          <p:nvPr/>
        </p:nvSpPr>
        <p:spPr>
          <a:xfrm>
            <a:off x="2667000" y="639112"/>
            <a:ext cx="1284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3600" spc="-200" dirty="0">
                <a:solidFill>
                  <a:srgbClr val="1145AB"/>
                </a:solidFill>
                <a:latin typeface="Arial" panose="020B0604020202020204" pitchFamily="34" charset="0"/>
                <a:ea typeface="S-Core Dream 5 Medium"/>
                <a:cs typeface="Arial" panose="020B0604020202020204" pitchFamily="34" charset="0"/>
              </a:rPr>
              <a:t>취업 일정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A3C971-A3AE-B185-337B-64B6920F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2171700"/>
            <a:ext cx="8001000" cy="2327954"/>
          </a:xfrm>
          <a:prstGeom prst="rect">
            <a:avLst/>
          </a:prstGeom>
        </p:spPr>
      </p:pic>
      <p:pic>
        <p:nvPicPr>
          <p:cNvPr id="4" name="Picture 3" descr="[취업정보] 채용시험도 온라인 시험으로 삼성 GSAT 직무적성검사 : 네이버 블로그">
            <a:extLst>
              <a:ext uri="{FF2B5EF4-FFF2-40B4-BE49-F238E27FC236}">
                <a16:creationId xmlns:a16="http://schemas.microsoft.com/office/drawing/2014/main" id="{0B07A0F1-4915-E677-D494-CCFF6E9F6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695406"/>
            <a:ext cx="4343400" cy="4343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85AFF0-381A-021C-3E3B-518B61C4DB3B}"/>
              </a:ext>
            </a:extLst>
          </p:cNvPr>
          <p:cNvSpPr txBox="1"/>
          <p:nvPr/>
        </p:nvSpPr>
        <p:spPr>
          <a:xfrm>
            <a:off x="7581900" y="4781714"/>
            <a:ext cx="9151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[</a:t>
            </a:r>
            <a:r>
              <a:rPr lang="en-US" sz="2400" b="1" dirty="0" err="1"/>
              <a:t>삼성전자</a:t>
            </a:r>
            <a:r>
              <a:rPr lang="en-US" sz="2400" b="1" dirty="0"/>
              <a:t>]  Mobile </a:t>
            </a:r>
            <a:r>
              <a:rPr lang="en-US" sz="2400" b="1" dirty="0" err="1"/>
              <a:t>eXperience</a:t>
            </a:r>
            <a:r>
              <a:rPr lang="en-US" sz="2400" b="1" dirty="0"/>
              <a:t> Business(DX)  Circuit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C7C8F-E7EE-D185-79F1-F41466EF672C}"/>
              </a:ext>
            </a:extLst>
          </p:cNvPr>
          <p:cNvSpPr txBox="1"/>
          <p:nvPr/>
        </p:nvSpPr>
        <p:spPr>
          <a:xfrm>
            <a:off x="2636520" y="6282766"/>
            <a:ext cx="4953000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b="1" dirty="0"/>
              <a:t>현재 </a:t>
            </a:r>
            <a:r>
              <a:rPr lang="en-US" altLang="ko-KR" sz="2800" b="1" dirty="0"/>
              <a:t>GSAT</a:t>
            </a:r>
            <a:r>
              <a:rPr lang="ko-KR" altLang="en-US" sz="2800" b="1" dirty="0"/>
              <a:t>시험 공부 집중</a:t>
            </a:r>
            <a:endParaRPr lang="en-US" altLang="ko-KR" sz="28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b="1" dirty="0"/>
              <a:t>사험 일정 </a:t>
            </a:r>
            <a:r>
              <a:rPr lang="en-US" altLang="ko-KR" sz="2800" b="1" dirty="0"/>
              <a:t>24.10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7148B-8BF6-549C-40D2-086D5E7FB54B}"/>
              </a:ext>
            </a:extLst>
          </p:cNvPr>
          <p:cNvSpPr txBox="1"/>
          <p:nvPr/>
        </p:nvSpPr>
        <p:spPr>
          <a:xfrm>
            <a:off x="12801600" y="7053523"/>
            <a:ext cx="3429000" cy="259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u="sng" dirty="0"/>
              <a:t>서류 합격</a:t>
            </a:r>
            <a:endParaRPr lang="en-US" altLang="ko-KR" sz="2800" b="1" u="sng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/>
              <a:t>삼성전자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현대엘리베이터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현대건설기계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474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42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FAB96C-8EB6-E050-C1A1-C91273FE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155E7C-3CC4-1521-9B01-C27CA6AE8AC5}"/>
              </a:ext>
            </a:extLst>
          </p:cNvPr>
          <p:cNvSpPr txBox="1"/>
          <p:nvPr/>
        </p:nvSpPr>
        <p:spPr>
          <a:xfrm>
            <a:off x="2667000" y="639112"/>
            <a:ext cx="1284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600" spc="-200" dirty="0">
                <a:solidFill>
                  <a:srgbClr val="1145AB"/>
                </a:solidFill>
                <a:latin typeface="Arial" panose="020B0604020202020204" pitchFamily="34" charset="0"/>
                <a:ea typeface="S-Core Dream 5 Medium"/>
                <a:cs typeface="Arial" panose="020B0604020202020204" pitchFamily="34" charset="0"/>
              </a:rPr>
              <a:t>TIS</a:t>
            </a:r>
            <a:r>
              <a:rPr lang="ko-KR" altLang="en-US" sz="3600" spc="-200" dirty="0">
                <a:solidFill>
                  <a:srgbClr val="1145AB"/>
                </a:solidFill>
                <a:latin typeface="Arial" panose="020B0604020202020204" pitchFamily="34" charset="0"/>
                <a:ea typeface="S-Core Dream 5 Medium"/>
                <a:cs typeface="Arial" panose="020B0604020202020204" pitchFamily="34" charset="0"/>
              </a:rPr>
              <a:t> 기기 진행상황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6681B-D4BC-481D-FF38-60F5F08CFD0D}"/>
              </a:ext>
            </a:extLst>
          </p:cNvPr>
          <p:cNvSpPr txBox="1"/>
          <p:nvPr/>
        </p:nvSpPr>
        <p:spPr>
          <a:xfrm>
            <a:off x="2362200" y="1409700"/>
            <a:ext cx="11353800" cy="830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TIS </a:t>
            </a:r>
            <a:r>
              <a:rPr lang="en-US" sz="2400" b="1" dirty="0" err="1"/>
              <a:t>회로</a:t>
            </a:r>
            <a:r>
              <a:rPr lang="en-US" sz="2400" b="1" dirty="0"/>
              <a:t> </a:t>
            </a:r>
            <a:r>
              <a:rPr lang="en-US" sz="2400" b="1" dirty="0" err="1"/>
              <a:t>개선</a:t>
            </a:r>
            <a:r>
              <a:rPr lang="en-US" sz="2400" b="1" dirty="0"/>
              <a:t> </a:t>
            </a:r>
            <a:r>
              <a:rPr lang="en-US" sz="2400" b="1" dirty="0" err="1"/>
              <a:t>방향</a:t>
            </a:r>
            <a:endParaRPr lang="en-US" sz="2400" b="1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DAC </a:t>
            </a:r>
            <a:r>
              <a:rPr lang="en-US" sz="2000" b="1" dirty="0" err="1"/>
              <a:t>성능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8 kHz </a:t>
            </a:r>
            <a:r>
              <a:rPr lang="en-US" dirty="0" err="1"/>
              <a:t>구동</a:t>
            </a:r>
            <a:r>
              <a:rPr lang="en-US" dirty="0"/>
              <a:t> 시 </a:t>
            </a:r>
            <a:r>
              <a:rPr lang="en-US" b="1" dirty="0"/>
              <a:t>1 MSPS </a:t>
            </a:r>
            <a:r>
              <a:rPr lang="en-US" b="1" dirty="0" err="1"/>
              <a:t>이상</a:t>
            </a:r>
            <a:r>
              <a:rPr lang="en-US" b="1" dirty="0"/>
              <a:t> DAC </a:t>
            </a:r>
            <a:r>
              <a:rPr lang="en-US" b="1" dirty="0" err="1"/>
              <a:t>필요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현재</a:t>
            </a:r>
            <a:r>
              <a:rPr lang="en-US" dirty="0"/>
              <a:t> AD5722 (100 </a:t>
            </a:r>
            <a:r>
              <a:rPr lang="en-US" dirty="0" err="1"/>
              <a:t>kSPS</a:t>
            </a:r>
            <a:r>
              <a:rPr lang="en-US" dirty="0"/>
              <a:t>) </a:t>
            </a:r>
            <a:r>
              <a:rPr lang="en-US" dirty="0" err="1"/>
              <a:t>성능</a:t>
            </a:r>
            <a:r>
              <a:rPr lang="en-US" dirty="0"/>
              <a:t> </a:t>
            </a:r>
            <a:r>
              <a:rPr lang="en-US" dirty="0" err="1"/>
              <a:t>부족</a:t>
            </a:r>
            <a:r>
              <a:rPr lang="en-US" dirty="0"/>
              <a:t> → </a:t>
            </a:r>
            <a:r>
              <a:rPr lang="en-US" b="1" dirty="0"/>
              <a:t>AD5452 </a:t>
            </a:r>
            <a:r>
              <a:rPr lang="en-US" b="1" dirty="0" err="1"/>
              <a:t>검토</a:t>
            </a:r>
            <a:r>
              <a:rPr lang="en-US" b="1" dirty="0"/>
              <a:t> (2.7 MSPS)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Arduino UNO R4는 </a:t>
            </a:r>
            <a:r>
              <a:rPr lang="en-US" dirty="0" err="1"/>
              <a:t>유지</a:t>
            </a:r>
            <a:r>
              <a:rPr lang="en-US" dirty="0"/>
              <a:t> </a:t>
            </a:r>
            <a:r>
              <a:rPr lang="en-US" dirty="0" err="1"/>
              <a:t>가능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highlight>
                  <a:srgbClr val="FFFF00"/>
                </a:highlight>
              </a:rPr>
              <a:t>우선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현재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회로로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1–2 kHz </a:t>
            </a:r>
            <a:r>
              <a:rPr lang="en-US" b="1" dirty="0" err="1">
                <a:highlight>
                  <a:srgbClr val="FFFF00"/>
                </a:highlight>
              </a:rPr>
              <a:t>동작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b="1" dirty="0" err="1">
                <a:highlight>
                  <a:srgbClr val="FFFF00"/>
                </a:highlight>
              </a:rPr>
              <a:t>테스트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b="1" dirty="0" err="1">
                <a:highlight>
                  <a:srgbClr val="FFFF00"/>
                </a:highlight>
              </a:rPr>
              <a:t>진행</a:t>
            </a:r>
            <a:endParaRPr lang="en-US" dirty="0">
              <a:highlight>
                <a:srgbClr val="FFFF00"/>
              </a:highlight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채널</a:t>
            </a:r>
            <a:r>
              <a:rPr lang="en-US" sz="2000" b="1" dirty="0"/>
              <a:t> 간 </a:t>
            </a:r>
            <a:r>
              <a:rPr lang="en-US" sz="2000" b="1" dirty="0" err="1"/>
              <a:t>절연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현재</a:t>
            </a:r>
            <a:r>
              <a:rPr lang="en-US" dirty="0"/>
              <a:t> 두 </a:t>
            </a:r>
            <a:r>
              <a:rPr lang="en-US" dirty="0" err="1"/>
              <a:t>채널이</a:t>
            </a:r>
            <a:r>
              <a:rPr lang="en-US" dirty="0"/>
              <a:t> </a:t>
            </a:r>
            <a:r>
              <a:rPr lang="en-US" b="1" dirty="0" err="1"/>
              <a:t>공통</a:t>
            </a:r>
            <a:r>
              <a:rPr lang="en-US" b="1" dirty="0"/>
              <a:t> GND </a:t>
            </a:r>
            <a:r>
              <a:rPr lang="en-US" b="1" dirty="0" err="1"/>
              <a:t>사용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전류</a:t>
            </a:r>
            <a:r>
              <a:rPr lang="en-US" dirty="0"/>
              <a:t> </a:t>
            </a:r>
            <a:r>
              <a:rPr lang="en-US" dirty="0" err="1"/>
              <a:t>경로</a:t>
            </a:r>
            <a:r>
              <a:rPr lang="en-US" dirty="0"/>
              <a:t> </a:t>
            </a:r>
            <a:r>
              <a:rPr lang="en-US" dirty="0" err="1"/>
              <a:t>간섭</a:t>
            </a:r>
            <a:r>
              <a:rPr lang="en-US" dirty="0"/>
              <a:t> </a:t>
            </a:r>
            <a:r>
              <a:rPr lang="en-US" dirty="0" err="1"/>
              <a:t>가능</a:t>
            </a:r>
            <a:r>
              <a:rPr lang="en-US" dirty="0"/>
              <a:t> → </a:t>
            </a:r>
            <a:r>
              <a:rPr lang="en-US" b="1" dirty="0" err="1"/>
              <a:t>채널별</a:t>
            </a:r>
            <a:r>
              <a:rPr lang="en-US" b="1" dirty="0"/>
              <a:t> Galvanic Isolation </a:t>
            </a:r>
            <a:r>
              <a:rPr lang="en-US" b="1" dirty="0" err="1"/>
              <a:t>필요</a:t>
            </a:r>
            <a:endParaRPr lang="en-US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전원부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최대</a:t>
            </a:r>
            <a:r>
              <a:rPr lang="en-US" dirty="0"/>
              <a:t> </a:t>
            </a:r>
            <a:r>
              <a:rPr lang="en-US" b="1" dirty="0"/>
              <a:t>5 </a:t>
            </a:r>
            <a:r>
              <a:rPr lang="en-US" b="1" dirty="0" err="1"/>
              <a:t>kΩ</a:t>
            </a:r>
            <a:r>
              <a:rPr lang="en-US" b="1" dirty="0"/>
              <a:t>, ±10 mA</a:t>
            </a:r>
            <a:r>
              <a:rPr lang="en-US" dirty="0"/>
              <a:t> </a:t>
            </a:r>
            <a:r>
              <a:rPr lang="en-US" dirty="0" err="1"/>
              <a:t>구동</a:t>
            </a:r>
            <a:r>
              <a:rPr lang="en-US" dirty="0"/>
              <a:t> </a:t>
            </a:r>
            <a:r>
              <a:rPr lang="en-US" dirty="0" err="1"/>
              <a:t>목표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±50 V </a:t>
            </a:r>
            <a:r>
              <a:rPr lang="en-US" b="1" dirty="0" err="1"/>
              <a:t>이상</a:t>
            </a:r>
            <a:r>
              <a:rPr lang="en-US" b="1" dirty="0"/>
              <a:t> </a:t>
            </a:r>
            <a:r>
              <a:rPr lang="en-US" b="1" dirty="0" err="1"/>
              <a:t>전원</a:t>
            </a:r>
            <a:r>
              <a:rPr lang="en-US" b="1" dirty="0"/>
              <a:t> </a:t>
            </a:r>
            <a:r>
              <a:rPr lang="en-US" b="1" dirty="0" err="1"/>
              <a:t>확보</a:t>
            </a:r>
            <a:r>
              <a:rPr lang="en-US" b="1" dirty="0"/>
              <a:t> </a:t>
            </a:r>
            <a:r>
              <a:rPr lang="en-US" b="1" dirty="0" err="1"/>
              <a:t>필요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NMT0572SC </a:t>
            </a:r>
            <a:r>
              <a:rPr lang="en-US" dirty="0" err="1"/>
              <a:t>최소</a:t>
            </a:r>
            <a:r>
              <a:rPr lang="en-US" dirty="0"/>
              <a:t> </a:t>
            </a:r>
            <a:r>
              <a:rPr lang="en-US" dirty="0" err="1"/>
              <a:t>부하</a:t>
            </a:r>
            <a:r>
              <a:rPr lang="en-US" dirty="0"/>
              <a:t> </a:t>
            </a:r>
            <a:r>
              <a:rPr lang="en-US" dirty="0" err="1"/>
              <a:t>조건</a:t>
            </a:r>
            <a:r>
              <a:rPr lang="en-US" dirty="0"/>
              <a:t> </a:t>
            </a:r>
            <a:r>
              <a:rPr lang="en-US" dirty="0" err="1"/>
              <a:t>확인</a:t>
            </a:r>
            <a:r>
              <a:rPr lang="en-US" dirty="0"/>
              <a:t> </a:t>
            </a:r>
            <a:r>
              <a:rPr lang="en-US" dirty="0" err="1"/>
              <a:t>필요</a:t>
            </a:r>
            <a:endParaRPr lang="en-US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Howland Current Pump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±50 V </a:t>
            </a:r>
            <a:r>
              <a:rPr lang="en-US" dirty="0" err="1"/>
              <a:t>구동</a:t>
            </a:r>
            <a:r>
              <a:rPr lang="en-US" dirty="0"/>
              <a:t> 및 </a:t>
            </a:r>
            <a:r>
              <a:rPr lang="en-US" dirty="0" err="1"/>
              <a:t>안전마진</a:t>
            </a:r>
            <a:r>
              <a:rPr lang="en-US" dirty="0"/>
              <a:t> </a:t>
            </a:r>
            <a:r>
              <a:rPr lang="en-US" dirty="0" err="1"/>
              <a:t>확보를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</a:t>
            </a:r>
            <a:r>
              <a:rPr lang="en-US" b="1" dirty="0" err="1"/>
              <a:t>고전압</a:t>
            </a:r>
            <a:r>
              <a:rPr lang="en-US" b="1" dirty="0"/>
              <a:t> Op-</a:t>
            </a:r>
            <a:r>
              <a:rPr lang="en-US" b="1" dirty="0" err="1"/>
              <a:t>Amp로</a:t>
            </a:r>
            <a:r>
              <a:rPr lang="en-US" b="1" dirty="0"/>
              <a:t> </a:t>
            </a:r>
            <a:r>
              <a:rPr lang="en-US" b="1" dirty="0" err="1"/>
              <a:t>변경</a:t>
            </a:r>
            <a:r>
              <a:rPr lang="en-US" b="1" dirty="0"/>
              <a:t> </a:t>
            </a:r>
            <a:r>
              <a:rPr lang="en-US" b="1" dirty="0" err="1"/>
              <a:t>검토</a:t>
            </a:r>
            <a:endParaRPr lang="en-US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향후</a:t>
            </a:r>
            <a:r>
              <a:rPr lang="en-US" sz="2000" b="1" dirty="0"/>
              <a:t> </a:t>
            </a:r>
            <a:r>
              <a:rPr lang="en-US" sz="2000" b="1" dirty="0" err="1"/>
              <a:t>계획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현재</a:t>
            </a:r>
            <a:r>
              <a:rPr lang="en-US" dirty="0"/>
              <a:t> </a:t>
            </a:r>
            <a:r>
              <a:rPr lang="en-US" dirty="0" err="1"/>
              <a:t>회로</a:t>
            </a:r>
            <a:r>
              <a:rPr lang="en-US" dirty="0"/>
              <a:t>: </a:t>
            </a:r>
            <a:r>
              <a:rPr lang="en-US" b="1" dirty="0"/>
              <a:t>1–2 kHz </a:t>
            </a:r>
            <a:r>
              <a:rPr lang="en-US" b="1" dirty="0" err="1"/>
              <a:t>기준</a:t>
            </a:r>
            <a:r>
              <a:rPr lang="en-US" b="1" dirty="0"/>
              <a:t> </a:t>
            </a:r>
            <a:r>
              <a:rPr lang="en-US" b="1" dirty="0" err="1"/>
              <a:t>성능</a:t>
            </a:r>
            <a:r>
              <a:rPr lang="en-US" b="1" dirty="0"/>
              <a:t> </a:t>
            </a:r>
            <a:r>
              <a:rPr lang="en-US" b="1" dirty="0" err="1"/>
              <a:t>검증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동시에</a:t>
            </a:r>
            <a:r>
              <a:rPr lang="en-US" dirty="0"/>
              <a:t> </a:t>
            </a:r>
            <a:r>
              <a:rPr lang="en-US" b="1" dirty="0"/>
              <a:t>TIS </a:t>
            </a:r>
            <a:r>
              <a:rPr lang="en-US" b="1" dirty="0" err="1"/>
              <a:t>전용</a:t>
            </a:r>
            <a:r>
              <a:rPr lang="en-US" b="1" dirty="0"/>
              <a:t> V2 </a:t>
            </a:r>
            <a:r>
              <a:rPr lang="en-US" b="1" dirty="0" err="1"/>
              <a:t>회로</a:t>
            </a:r>
            <a:r>
              <a:rPr lang="en-US" b="1" dirty="0"/>
              <a:t> </a:t>
            </a:r>
            <a:r>
              <a:rPr lang="en-US" b="1" dirty="0" err="1"/>
              <a:t>설계</a:t>
            </a:r>
            <a:r>
              <a:rPr lang="en-US" b="1" dirty="0"/>
              <a:t> </a:t>
            </a:r>
            <a:r>
              <a:rPr lang="en-US" b="1" dirty="0" err="1"/>
              <a:t>진행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DAC → </a:t>
            </a:r>
            <a:r>
              <a:rPr lang="en-US" dirty="0" err="1"/>
              <a:t>절연</a:t>
            </a:r>
            <a:r>
              <a:rPr lang="en-US" dirty="0"/>
              <a:t> → </a:t>
            </a:r>
            <a:r>
              <a:rPr lang="en-US" dirty="0" err="1"/>
              <a:t>전원부</a:t>
            </a:r>
            <a:r>
              <a:rPr lang="en-US" dirty="0"/>
              <a:t> → Current Pump </a:t>
            </a:r>
            <a:r>
              <a:rPr lang="en-US" dirty="0" err="1"/>
              <a:t>순으로</a:t>
            </a:r>
            <a:r>
              <a:rPr lang="en-US" dirty="0"/>
              <a:t> </a:t>
            </a:r>
            <a:r>
              <a:rPr lang="en-US" dirty="0" err="1"/>
              <a:t>개선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B0E9A0-9DAA-413B-EED1-3C9B1BE76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09700"/>
            <a:ext cx="4952998" cy="91440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F359C2-569D-F062-477D-62E8118FA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61971"/>
            <a:ext cx="6858000" cy="3429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7AD507-D8CF-F29A-08DF-BFAB533F69CE}"/>
              </a:ext>
            </a:extLst>
          </p:cNvPr>
          <p:cNvSpPr txBox="1"/>
          <p:nvPr/>
        </p:nvSpPr>
        <p:spPr>
          <a:xfrm>
            <a:off x="11201400" y="6134100"/>
            <a:ext cx="5678805" cy="2341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현재</a:t>
            </a:r>
            <a:r>
              <a:rPr lang="en-US" sz="2000" b="1" dirty="0"/>
              <a:t> </a:t>
            </a:r>
            <a:r>
              <a:rPr lang="en-US" sz="2000" b="1" dirty="0" err="1"/>
              <a:t>진행</a:t>
            </a:r>
            <a:r>
              <a:rPr lang="en-US" sz="2000" b="1" dirty="0"/>
              <a:t> </a:t>
            </a:r>
            <a:r>
              <a:rPr lang="en-US" sz="2000" b="1" dirty="0" err="1"/>
              <a:t>상황</a:t>
            </a:r>
            <a:endParaRPr lang="en-US" sz="2000" b="1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과부하로</a:t>
            </a:r>
            <a:r>
              <a:rPr lang="en-US" sz="2000" b="1" dirty="0"/>
              <a:t> Current Output </a:t>
            </a:r>
            <a:r>
              <a:rPr lang="en-US" sz="2000" b="1" dirty="0" err="1"/>
              <a:t>회로</a:t>
            </a:r>
            <a:r>
              <a:rPr lang="en-US" sz="2000" b="1" dirty="0"/>
              <a:t> </a:t>
            </a:r>
            <a:r>
              <a:rPr lang="en-US" sz="2000" b="1" dirty="0" err="1"/>
              <a:t>손상</a:t>
            </a:r>
            <a:endParaRPr lang="en-US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손상</a:t>
            </a:r>
            <a:r>
              <a:rPr lang="en-US" sz="2000" dirty="0"/>
              <a:t> </a:t>
            </a:r>
            <a:r>
              <a:rPr lang="en-US" sz="2000" dirty="0" err="1"/>
              <a:t>부품</a:t>
            </a:r>
            <a:r>
              <a:rPr lang="en-US" sz="2000" dirty="0"/>
              <a:t> </a:t>
            </a:r>
            <a:r>
              <a:rPr lang="en-US" sz="2000" dirty="0" err="1"/>
              <a:t>확인</a:t>
            </a:r>
            <a:r>
              <a:rPr lang="en-US" sz="2000" dirty="0"/>
              <a:t> 및 </a:t>
            </a:r>
            <a:r>
              <a:rPr lang="en-US" sz="2000" b="1" dirty="0" err="1"/>
              <a:t>교체</a:t>
            </a:r>
            <a:r>
              <a:rPr lang="en-US" sz="2000" b="1" dirty="0"/>
              <a:t> </a:t>
            </a:r>
            <a:r>
              <a:rPr lang="en-US" sz="2000" b="1" dirty="0" err="1"/>
              <a:t>진행</a:t>
            </a:r>
            <a:r>
              <a:rPr lang="en-US" sz="2000" b="1" dirty="0"/>
              <a:t> 중</a:t>
            </a:r>
            <a:endParaRPr lang="en-US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교체</a:t>
            </a:r>
            <a:r>
              <a:rPr lang="en-US" sz="2000" dirty="0"/>
              <a:t> 후 </a:t>
            </a:r>
            <a:r>
              <a:rPr lang="en-US" sz="2000" b="1" dirty="0"/>
              <a:t>1–2 kHz </a:t>
            </a:r>
            <a:r>
              <a:rPr lang="en-US" sz="2000" b="1" dirty="0" err="1"/>
              <a:t>기준</a:t>
            </a:r>
            <a:r>
              <a:rPr lang="en-US" sz="2000" b="1" dirty="0"/>
              <a:t> </a:t>
            </a:r>
            <a:r>
              <a:rPr lang="en-US" sz="2000" b="1" dirty="0" err="1"/>
              <a:t>출력</a:t>
            </a:r>
            <a:r>
              <a:rPr lang="en-US" sz="2000" b="1" dirty="0"/>
              <a:t> </a:t>
            </a:r>
            <a:r>
              <a:rPr lang="en-US" sz="2000" b="1" dirty="0" err="1"/>
              <a:t>테스트</a:t>
            </a:r>
            <a:r>
              <a:rPr lang="en-US" sz="2000" b="1" dirty="0"/>
              <a:t> </a:t>
            </a:r>
            <a:r>
              <a:rPr lang="en-US" sz="2000" b="1" dirty="0" err="1"/>
              <a:t>예정</a:t>
            </a:r>
            <a:endParaRPr lang="en-US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테스트</a:t>
            </a:r>
            <a:r>
              <a:rPr lang="en-US" sz="2000" dirty="0"/>
              <a:t> </a:t>
            </a:r>
            <a:r>
              <a:rPr lang="en-US" sz="2000" dirty="0" err="1"/>
              <a:t>결과</a:t>
            </a:r>
            <a:r>
              <a:rPr lang="en-US" sz="2000" dirty="0"/>
              <a:t> </a:t>
            </a:r>
            <a:r>
              <a:rPr lang="en-US" sz="2000" dirty="0" err="1"/>
              <a:t>확인</a:t>
            </a:r>
            <a:r>
              <a:rPr lang="en-US" sz="2000" dirty="0"/>
              <a:t> 후 </a:t>
            </a:r>
            <a:r>
              <a:rPr lang="en-US" sz="2000" b="1" dirty="0" err="1"/>
              <a:t>회로</a:t>
            </a:r>
            <a:r>
              <a:rPr lang="en-US" sz="2000" b="1" dirty="0"/>
              <a:t> </a:t>
            </a:r>
            <a:r>
              <a:rPr lang="en-US" sz="2000" b="1" dirty="0" err="1"/>
              <a:t>개선</a:t>
            </a:r>
            <a:r>
              <a:rPr lang="en-US" sz="2000" b="1" dirty="0"/>
              <a:t> </a:t>
            </a:r>
            <a:r>
              <a:rPr lang="en-US" sz="2000" b="1" dirty="0" err="1"/>
              <a:t>진행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5020094"/>
      </p:ext>
    </p:extLst>
  </p:cSld>
  <p:clrMapOvr>
    <a:masterClrMapping/>
  </p:clrMapOvr>
</p:sld>
</file>

<file path=ppt/theme/theme1.xml><?xml version="1.0" encoding="utf-8"?>
<a:theme xmlns:a="http://schemas.openxmlformats.org/drawingml/2006/main" name="IMED_Ti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ME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MED_End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217</Words>
  <Application>Microsoft Office PowerPoint</Application>
  <PresentationFormat>Custom</PresentationFormat>
  <Paragraphs>40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맑은 고딕</vt:lpstr>
      <vt:lpstr>Calibri</vt:lpstr>
      <vt:lpstr>IMED_Title</vt:lpstr>
      <vt:lpstr>IMED</vt:lpstr>
      <vt:lpstr>IMED_Ending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전예진</dc:creator>
  <cp:lastModifiedBy>Thar Htet Nyan</cp:lastModifiedBy>
  <cp:revision>29</cp:revision>
  <dcterms:created xsi:type="dcterms:W3CDTF">2006-08-16T00:00:00Z</dcterms:created>
  <dcterms:modified xsi:type="dcterms:W3CDTF">2026-10-12T07:35:45Z</dcterms:modified>
</cp:coreProperties>
</file>